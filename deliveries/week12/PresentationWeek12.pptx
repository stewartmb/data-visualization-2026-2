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6a4a7cfc-0ce1-1387-9712-2a4440647adb}">
          <p14:sldIdLst>
            <p14:sldId id="256"/>
          </p14:sldIdLst>
        </p14:section>
        <p14:section name="Cambios" id="{d652ae0a-6013-0f92-1c15-76d6fd739fe2}">
          <p14:sldIdLst>
            <p14:sldId id="257"/>
          </p14:sldIdLst>
        </p14:section>
        <p14:section name="Datos" id="{b5e4c4cf-5fa5-4d0c-623c-6f7f94760dee}">
          <p14:sldIdLst>
            <p14:sldId id="258"/>
          </p14:sldIdLst>
        </p14:section>
        <p14:section name="Aplicación" id="{7f92dff9-d932-a84c-7c0c-663042be06a4}">
          <p14:sldIdLst>
            <p14:sldId id="259"/>
          </p14:sldIdLst>
        </p14:section>
        <p14:section name="Mapa" id="{d7d71e21-54d7-6e7e-bf83-906b6e319941}">
          <p14:sldIdLst>
            <p14:sldId id="260"/>
          </p14:sldIdLst>
        </p14:section>
        <p14:section name="Hallazgos" id="{328da75c-f3cb-1bb3-5a15-ef53472ed7e5}">
          <p14:sldIdLst>
            <p14:sldId id="261"/>
          </p14:sldIdLst>
        </p14:section>
        <p14:section name="Página" id="{504f194d-ca4f-c791-72ed-70894999f62f}">
          <p14:sldIdLst>
            <p14:sldId id="262"/>
          </p14:sldIdLst>
        </p14:section>
        <p14:section name="Crítica" id="{391be85a-0aaf-4d15-7349-d7dde37c35c4}">
          <p14:sldIdLst>
            <p14:sldId id="263"/>
          </p14:sldIdLst>
        </p14:section>
        <p14:section name="Plan" id="{64ffa544-337f-4f89-4c6d-bb61240b805a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143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1672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1091672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Fractal · Semana 12 · DS5343 · UTEC 2026-2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Fractal · Atlas de ritmos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1091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Volvió el metro. ¿Volvió su ritmo? · Borrador refinado · Semana 12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Renzo Acervo · Stewart Maquera · José Condori  ·  DS5343 Data Visualization · UTEC · 28 de octubre de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Del prototipo al atlas: qué cambió desde el design review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52395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7A8A91"/>
                          </a:solidFill>
                        </a:rPr>
                        <a:t>Semana 10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B6CB0"/>
                          </a:solidFill>
                        </a:rPr>
                        <a:t>Semana 12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Comparación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ene–feb 2020 frente a todo 2024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ene–feb de cinco años, calendario estandarizado (W = A / N)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Universo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428 complejos (con SIR y tranvía)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424 complejos de subway, unión exacta con el catálogo MTA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Datos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agregados pedidos a la API en ventanas de 7 días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dataset completo (120 855 567 registros) descargado y agregado localmente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Estructura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capítulos narrativos + explorador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cuatro lentes enlazadas + detalle bajo demanda + página del proyecto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Medidas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pico/valle, asimetría, tipología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distancia TV, peso AM, fin de semana, volumen, Hellinger; fórmulas en la interfaz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Mapa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contornos de boroughs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plano de calles de la ciudad (OpenStreetMap/CARTO), con zoom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Toda la data: 120 855 567 registros, pipeline reproducible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120.9 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671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registros horarios · 1 827 días · todos los modos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3474720" y="1325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424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1671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complejos de subway · 5 temporadas ene–feb · 2 120 perfiles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325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B6C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 min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671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DuckDB agrega el insumo del atlas desde el Parquet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326880" y="13258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97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9326880" y="216712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3"/>
                </a:solidFill>
              </a:rPr>
              <a:t>diferencia celda por celda con el insumo que daba la API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11091672" cy="2926080"/>
          </a:xfrm>
          <a:prstGeom prst="roundRect">
            <a:avLst>
              <a:gd name="adj" fmla="val 2500"/>
            </a:avLst>
          </a:prstGeom>
          <a:solidFill>
            <a:srgbClr val="EEF2F3"/>
          </a:solidFill>
          <a:ln w="12700">
            <a:solidFill>
              <a:srgbClr val="EEF2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29184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download_full.py  →  parquet/  →  build_from_full.py  →  jan_feb_hourly_2020_2024.csv  →  build_atlas.py  →  atlas.json  →  validate_atlas.py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840480"/>
            <a:ext cx="1054303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Descarga por la API Socrata, un día por petición, paginada y con orden estable: determinista, reanudable, con huella SHA-256 en el manifiesto. La data cruda queda fuera de Git.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 = A / N: cada hora se divide por el número de lunes, martes… del período; P = W / ΣW es la distribución de 168 valores que suma 1. Así el calendario no se confunde con el uso.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Sobre P: distancia TV (cuánto del ritmo se redistribuyó), peso AM, peso de fin de semana, índice de volumen y Hellinger para buscar perfiles parecidos.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validate_atlas.py recalcula sin red los 2 120 perfiles y las 356 160 celdas; smoke.cjs ejecuta la interfaz en Chromium.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01 Atlas semanal: 424 complejos × 168 horas, la primera pantalla</a:t>
            </a:r>
            <a:endParaRPr lang="en-US" sz="3000" dirty="0"/>
          </a:p>
        </p:txBody>
      </p:sp>
      <p:pic>
        <p:nvPicPr>
          <p:cNvPr id="3" name="Image 0" descr="/tmp/claude-0/-home-claude/d4d53761-fe49-59a6-ae23-6778adb32de7/scratchpad/deck12b/02-atlas-detal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7863840" cy="49149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0" y="1280160"/>
            <a:ext cx="34747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Cada fila un complejo, cada columna una hora de la semana; azul perdió peso, naranja lo ganó (ene–feb 2024 frente a 2020).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Orden por cambio de forma, geografía, volumen, mañana, noche, fin de semana o semejanza con un ejemplo.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Vista global de 424 filas y lectura ampliada con desplazamiento virtual: la misma representación.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Un clic abre la huella de 168 sectores (reloj o matriz), la comparación con tres fijados y los 12 vecinos.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02 Geografía: el ritmo sobre el plano de la ciudad</a:t>
            </a:r>
            <a:endParaRPr lang="en-US" sz="3000" dirty="0"/>
          </a:p>
        </p:txBody>
      </p:sp>
      <p:pic>
        <p:nvPicPr>
          <p:cNvPr id="3" name="Image 0" descr="/tmp/claude-0/-home-claude/d4d53761-fe49-59a6-ae23-6778adb32de7/scratchpad/deck12b/03-geografi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949440" cy="4343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0" y="1280160"/>
            <a:ext cx="4389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Feedback del review: que Nueva York se vea como un plano con calles, para ubicar cada estación.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Teselas de OpenStreetMap/CARTO bajo los complejos, con zoom continuo y atribución; sin red, los contornos de boroughs (como en esta captura).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Color por distancia TV, Δ AM, Δ fin de semana o índice de volumen; escala fija por año, filtrar no cambia los colores.</a:t>
            </a:r>
            <a:endParaRPr lang="en-US" sz="130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Filtros de rango con doble tirador y selección rectangular que forma un grupo compartido con las demás vistas.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03 Trayectorias y hallazgos preliminares</a:t>
            </a:r>
            <a:endParaRPr lang="en-US" sz="3000" dirty="0"/>
          </a:p>
        </p:txBody>
      </p:sp>
      <p:pic>
        <p:nvPicPr>
          <p:cNvPr id="3" name="Image 0" descr="/tmp/claude-0/-home-claude/d4d53761-fe49-59a6-ae23-6778adb32de7/scratchpad/deck12b/05-trayectoria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852160" cy="36576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583680" y="1280160"/>
            <a:ext cx="55778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El sistema recuperó el 67.7 % de sus entradas diarias, pero no su ritmo: la mañana laboral bajó de 28.9 % a 27.2 % y el fin de semana subió de 16.2 % a 18.4 %.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316 de 424 complejos tienen menos peso AM que en 2020; 283 tienen más fin de semana. El cambio es general.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Mediana del cambio de forma: 6.6 pp (TV). Mayores cambios: 57 St (F) 26.4 pp (obras), Hunters Point Av (7) 20.3 pp, 3 Av (L) 18.0 pp.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Volumen ≠ ritmo: 21 complejos entre el 80 y 120 % de su volumen cambiaron de forma 10 pp o más.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El Bronx: menos volumen que nadie (56 %) y la mañana que menos cambió (−0.2 pp). Brooklyn, la que más (−3.3 pp).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04 Evidencia y 05 Proyecto: cada lectura se comprueba</a:t>
            </a:r>
            <a:endParaRPr lang="en-US" sz="3000" dirty="0"/>
          </a:p>
        </p:txBody>
      </p:sp>
      <p:pic>
        <p:nvPicPr>
          <p:cNvPr id="3" name="Image 0" descr="/tmp/claude-0/-home-claude/d4d53761-fe49-59a6-ae23-6778adb32de7/scratchpad/deck12b/07-evidenci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5486400" cy="3429000"/>
          </a:xfrm>
          <a:prstGeom prst="rect">
            <a:avLst/>
          </a:prstGeom>
        </p:spPr>
      </p:pic>
      <p:pic>
        <p:nvPicPr>
          <p:cNvPr id="4" name="Image 1" descr="/tmp/claude-0/-home-claude/d4d53761-fe49-59a6-ae23-6778adb32de7/scratchpad/deck12b/08-proyec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486400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846320"/>
            <a:ext cx="1109167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Evidencia: afirmaciones calculadas sobre el grupo activo, tabla con cobertura de celdas y fuentes, exportación CSV, exploraciones guardadas.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Proyecto: la página del proyecto dentro de la app, con introducción, datos, cómo se lee, hallazgos calculados en vivo, conclusión preliminar, límites y equipo.</a:t>
            </a:r>
            <a:endParaRPr lang="en-US" sz="1250" dirty="0"/>
          </a:p>
          <a:p>
            <a:pPr marL="152400" indent="-1524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Las fórmulas de cada medida se muestran en la interfaz con ejemplo y unidad; el estado completo vive en la URL.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Respuesta al design review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554480"/>
                <a:gridCol w="569671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</a:rPr>
                        <a:t>Sugerencia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</a:rPr>
                        <a:t>Decisión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</a:rPr>
                        <a:t>Qué se hizo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Ojalá la visualización se viera más; menos texto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6CB0"/>
                          </a:solidFill>
                        </a:rPr>
                        <a:t>implementada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el atlas de 424 × 168 es la primera pantalla; el texto largo vive en la guía y en la página del proyecto; el carril solo lleva filtros y entradas al análisis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¿Y si el mapa se viera como un plano de la ciudad, con calles, como Google Maps?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6CB0"/>
                          </a:solidFill>
                        </a:rPr>
                        <a:t>implementada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plano de calles sobre teselas, sin etiquetas para no competir con el color de la medida; contornos y nombres de boroughs encima; respaldo sin red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Tipología residencial / mixta / laboral: ¿promete más de lo que mide?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2B6CB0"/>
                          </a:solidFill>
                        </a:rPr>
                        <a:t>reemplazada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semejanza continua (Hellinger, 12 vecinos) y medidas acotadas en vez de una clasificación discreta sin validar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Contrastar la hipótesis del Bronx con datos de empleo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D9772B"/>
                          </a:solidFill>
                        </a:rPr>
                        <a:t>aplazada · 8 nov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</a:rPr>
                        <a:t>capa ACS del Census (trabajo desde casa) por área de influencia de 800 m; hoy el atlas lo presenta como caso para investigar, no como causa</a:t>
                      </a:r>
                      <a:endParaRPr lang="en-US" sz="125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Registro completo, sugerencia por sugerencia: deliveries/week12/PeerCritiqueResponse.pdf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 que falta para la Semana 15 y quién lo hace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7772400"/>
                <a:gridCol w="2103120"/>
                <a:gridCol w="12161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Tarea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Responsable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A1A1A"/>
                          </a:solidFill>
                        </a:rPr>
                        <a:t>Para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Evaluación con personas: 3–5 compañeros y una persona de transporte resuelven seis ejercicios; aciertos, errores, tiempo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los tres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6 nov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Capa ACS del Census para contrastar la hipótesis del trabajo híbrido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Renzo · José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8 nov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Decidir reloj frente a matriz y la explicación de TV con la evaluación; ajustar escalas y umbrales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Stewart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10 nov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Paper final: resultados de la evaluación, figuras definitivas, formato IEEE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José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13 nov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Video teaser (30 s) y video de presentación (3 min)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Renzo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14 nov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Poster para la exhibición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Stewart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16 nov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Presentación final de 10 minutos y revisión cruzada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los tres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</a:rPr>
                        <a:t>17 nov</a:t>
                      </a:r>
                      <a:endParaRPr lang="en-US" sz="13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Entrega completa: deliveries/week12/  ·  aplicación: stewartmb.github.io/data-visualization-2026-2/atlas/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A8A9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ctal">
  <a:themeElements>
    <a:clrScheme name="Fractal">
      <a:dk1>
        <a:srgbClr val="1A1A1A"/>
      </a:dk1>
      <a:lt1>
        <a:srgbClr val="FFFFFF"/>
      </a:lt1>
      <a:dk2>
        <a:srgbClr val="14333F"/>
      </a:dk2>
      <a:lt2>
        <a:srgbClr val="EEF2F3"/>
      </a:lt2>
      <a:accent1>
        <a:srgbClr val="D9772B"/>
      </a:accent1>
      <a:accent2>
        <a:srgbClr val="2B6CB0"/>
      </a:accent2>
      <a:accent3>
        <a:srgbClr val="7A8A91"/>
      </a:accent3>
      <a:accent4>
        <a:srgbClr val="B9C7CC"/>
      </a:accent4>
      <a:accent5>
        <a:srgbClr val="F3E3D3"/>
      </a:accent5>
      <a:accent6>
        <a:srgbClr val="DCE7F5"/>
      </a:accent6>
      <a:hlink>
        <a:srgbClr val="2B6CB0"/>
      </a:hlink>
      <a:folHlink>
        <a:srgbClr val="7A8A91"/>
      </a:folHlink>
    </a:clrScheme>
    <a:fontScheme name="Fract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2026-10-27T05:26:22Z</dcterms:created>
  <dcterms:modified xsi:type="dcterms:W3CDTF">2026-10-27T05:26:22Z</dcterms:modified>
</cp:coreProperties>
</file>