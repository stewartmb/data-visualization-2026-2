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2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a80e0649a47413b" /><Relationship Type="http://schemas.openxmlformats.org/officeDocument/2006/relationships/extended-properties" Target="/docProps/app.xml" Id="Rd3995df28d504144" /><Relationship Type="http://schemas.openxmlformats.org/officeDocument/2006/relationships/officeDocument" Target="/ppt/presentation.xml" Id="R46d74fb37e1d421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cebadc6582048cf"/>
  </p:sldMasterIdLst>
  <p:notesMasterIdLst>
    <p:notesMasterId xmlns:r="http://schemas.openxmlformats.org/officeDocument/2006/relationships" r:id="R1edccc99939b43a3"/>
  </p:notesMasterIdLst>
  <p:sldIdLst>
    <p:sldId xmlns:r="http://schemas.openxmlformats.org/officeDocument/2006/relationships" id="256" r:id="Re92a92369fb349e2"/>
    <p:sldId xmlns:r="http://schemas.openxmlformats.org/officeDocument/2006/relationships" id="257" r:id="R04d3bed071bf4362"/>
    <p:sldId xmlns:r="http://schemas.openxmlformats.org/officeDocument/2006/relationships" id="258" r:id="Red960166fe4f4613"/>
    <p:sldId xmlns:r="http://schemas.openxmlformats.org/officeDocument/2006/relationships" id="259" r:id="Re5b4787402804342"/>
    <p:sldId xmlns:r="http://schemas.openxmlformats.org/officeDocument/2006/relationships" id="260" r:id="Rd91c35eac5cc4a05"/>
    <p:sldId xmlns:r="http://schemas.openxmlformats.org/officeDocument/2006/relationships" id="261" r:id="R6220526de72c40af"/>
    <p:sldId xmlns:r="http://schemas.openxmlformats.org/officeDocument/2006/relationships" id="262" r:id="Raa46dd4bfdfd4c2e"/>
    <p:sldId xmlns:r="http://schemas.openxmlformats.org/officeDocument/2006/relationships" id="263" r:id="R98a53c581788416d"/>
    <p:sldId xmlns:r="http://schemas.openxmlformats.org/officeDocument/2006/relationships" id="264" r:id="R1955d37ee8f0410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896e99a9e444882" /><Relationship Type="http://schemas.openxmlformats.org/officeDocument/2006/relationships/slideMaster" Target="/ppt/slideMasters/slideMaster1.xml" Id="Recebadc6582048cf" /><Relationship Type="http://schemas.openxmlformats.org/officeDocument/2006/relationships/notesMaster" Target="/ppt/notesMasters/notesMaster1.xml" Id="R1edccc99939b43a3" /><Relationship Type="http://schemas.openxmlformats.org/officeDocument/2006/relationships/presProps" Target="/ppt/presProps.xml" Id="R35fd4d3a9e0645ce" /><Relationship Type="http://schemas.openxmlformats.org/officeDocument/2006/relationships/tableStyles" Target="/ppt/tableStyles.xml" Id="Rdf46d43c5d41485d" /><Relationship Type="http://schemas.openxmlformats.org/officeDocument/2006/relationships/slide" Target="/ppt/slides/slide1.xml" Id="Re92a92369fb349e2" /><Relationship Type="http://schemas.openxmlformats.org/officeDocument/2006/relationships/slide" Target="/ppt/slides/slide2.xml" Id="R04d3bed071bf4362" /><Relationship Type="http://schemas.openxmlformats.org/officeDocument/2006/relationships/slide" Target="/ppt/slides/slide3.xml" Id="Red960166fe4f4613" /><Relationship Type="http://schemas.openxmlformats.org/officeDocument/2006/relationships/slide" Target="/ppt/slides/slide4.xml" Id="Re5b4787402804342" /><Relationship Type="http://schemas.openxmlformats.org/officeDocument/2006/relationships/slide" Target="/ppt/slides/slide5.xml" Id="Rd91c35eac5cc4a05" /><Relationship Type="http://schemas.openxmlformats.org/officeDocument/2006/relationships/slide" Target="/ppt/slides/slide6.xml" Id="R6220526de72c40af" /><Relationship Type="http://schemas.openxmlformats.org/officeDocument/2006/relationships/slide" Target="/ppt/slides/slide7.xml" Id="Raa46dd4bfdfd4c2e" /><Relationship Type="http://schemas.openxmlformats.org/officeDocument/2006/relationships/slide" Target="/ppt/slides/slide8.xml" Id="R98a53c581788416d" /><Relationship Type="http://schemas.openxmlformats.org/officeDocument/2006/relationships/slide" Target="/ppt/slides/slide9.xml" Id="R1955d37ee8f0410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0cdfff513c54a3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ba4238c3bca4858" /><Relationship Type="http://schemas.openxmlformats.org/officeDocument/2006/relationships/notesMaster" Target="/ppt/notesMasters/notesMaster1.xml" Id="R9172865525fd4ae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53ac103c0bd496f" /><Relationship Type="http://schemas.openxmlformats.org/officeDocument/2006/relationships/notesMaster" Target="/ppt/notesMasters/notesMaster1.xml" Id="Rcd14a63e22504dd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7b1b76ff7e844c1" /><Relationship Type="http://schemas.openxmlformats.org/officeDocument/2006/relationships/notesMaster" Target="/ppt/notesMasters/notesMaster1.xml" Id="Rc580e93aedfa4f0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360ba626a4b4763" /><Relationship Type="http://schemas.openxmlformats.org/officeDocument/2006/relationships/notesMaster" Target="/ppt/notesMasters/notesMaster1.xml" Id="R04537e35fc894e0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1a9bf2393204f86" /><Relationship Type="http://schemas.openxmlformats.org/officeDocument/2006/relationships/notesMaster" Target="/ppt/notesMasters/notesMaster1.xml" Id="R59888c07b7dc48e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7886667d3764025" /><Relationship Type="http://schemas.openxmlformats.org/officeDocument/2006/relationships/notesMaster" Target="/ppt/notesMasters/notesMaster1.xml" Id="R22aec271ccc046c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48a2d1bfa9046b7" /><Relationship Type="http://schemas.openxmlformats.org/officeDocument/2006/relationships/notesMaster" Target="/ppt/notesMasters/notesMaster1.xml" Id="Ra345996fdc77420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471152e99d24f73" /><Relationship Type="http://schemas.openxmlformats.org/officeDocument/2006/relationships/notesMaster" Target="/ppt/notesMasters/notesMaster1.xml" Id="R107f77e3351048c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841da38e85d4393" /><Relationship Type="http://schemas.openxmlformats.org/officeDocument/2006/relationships/notesMaster" Target="/ppt/notesMasters/notesMaster1.xml" Id="R4b778e8772f742a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MTA/Open NY, manifiestos de entradas/OD; GTFS 2026. Guía del curso §4. Revisión 28-10-2026.</a:t>
            </a:r>
          </a:p>
          <a:p xmlns:a="http://schemas.openxmlformats.org/drawingml/2006/main">
            <a:r>
              <a:t>Revisión de alcance del 28 de octubre, sin reescribir la cronología de la entrega original.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MTA/Open NY, manifiestos de entradas/OD; GTFS 2026. Guía del curso §4. Revisión 28-10-2026.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MTA/Open NY, manifiestos de entradas/OD; GTFS 2026. Guía del curso §4. Revisión 28-10-2026.</a:t>
            </a:r>
          </a:p>
          <a:p xmlns:a="http://schemas.openxmlformats.org/drawingml/2006/main">
            <a:r>
              <a:t>Boceto estático con datos reales, fidelidad 1. No es captura ni resultado del solver. Interacciones en app.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MTA/Open NY, manifiestos de entradas/OD; GTFS 2026. Guía del curso §4. Revisión 28-10-2026.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MTA/Open NY, manifiestos de entradas/OD; GTFS 2026. Guía del curso §4. Revisión 28-10-2026.</a:t>
            </a:r>
          </a:p>
          <a:p xmlns:a="http://schemas.openxmlformats.org/drawingml/2006/main">
            <a:r>
              <a:t>Resultados: deliveries/week12/data/analytical_tasks/T1_territory.csv. Índice de volumen territorial, no porcentaje de personas.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MTA/Open NY, manifiestos de entradas/OD; GTFS 2026. Guía del curso §4. Revisión 28-10-2026.</a:t>
            </a:r>
          </a:p>
          <a:p xmlns:a="http://schemas.openxmlformats.org/drawingml/2006/main">
            <a:r>
              <a:t>T2_territorial_od.csv. La cuota sube en tres boroughs; no demuestra disminución absoluta de viajes locales.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MTA/Open NY, manifiestos de entradas/OD; GTFS 2026. Guía del curso §4. Revisión 28-10-2026.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MTA/Open NY, manifiestos de entradas/OD; GTFS 2026. Guía del curso §4. Revisión 28-10-2026.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MTA/Open NY, manifiestos de entradas/OD; GTFS 2026. Guía del curso §4. Revisión 28-10-2026.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76ac03bec54e1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58dfcd82d844d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9d91dd95834ba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0a4c2247754fd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3ea9224dcb4da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8b9dfbb12046a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D3D3FB6-8852-4820-BE57-3664D2A82D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F37B54F-7479-4081-A975-48D58B8779E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BD307C8-EE26-47ED-BCBF-C8F3815E93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EA693EB-DDAD-4B5E-AE60-30126E0733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64163BF-9726-4A50-9C1A-204D340FCA4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956E721-2E50-4DE2-99F8-07B9D15B27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3332C16-BA27-493A-8B43-F4667CD7B83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3D9BB7B-B6FC-4ACE-8670-35032E49FBB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02FCF6F-E146-4B48-BF2B-624A85F9180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C515AC7-0732-4914-9B1A-2EA3E8B61B4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3528449a919469e" /><Relationship Type="http://schemas.openxmlformats.org/officeDocument/2006/relationships/slideLayout" Target="/ppt/slideLayouts/slideLayout1.xml" Id="R47879d8f2fc14680" /><Relationship Type="http://schemas.openxmlformats.org/officeDocument/2006/relationships/slideLayout" Target="/ppt/slideLayouts/slideLayout2.xml" Id="R9b2a20f28a7c4efb" /><Relationship Type="http://schemas.openxmlformats.org/officeDocument/2006/relationships/slideLayout" Target="/ppt/slideLayouts/slideLayout3.xml" Id="R051482f05b5740d1" /><Relationship Type="http://schemas.openxmlformats.org/officeDocument/2006/relationships/slideLayout" Target="/ppt/slideLayouts/slideLayout4.xml" Id="Rd9b6f525d2494a42" /><Relationship Type="http://schemas.openxmlformats.org/officeDocument/2006/relationships/slideLayout" Target="/ppt/slideLayouts/slideLayout5.xml" Id="R5dead2ea2b4345d9" /><Relationship Type="http://schemas.openxmlformats.org/officeDocument/2006/relationships/slideLayout" Target="/ppt/slideLayouts/slideLayout6.xml" Id="R1aed37a2fa0a48f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7879d8f2fc14680"/>
    <p:sldLayoutId xmlns:r="http://schemas.openxmlformats.org/officeDocument/2006/relationships" id="2147483650" r:id="R9b2a20f28a7c4efb"/>
    <p:sldLayoutId xmlns:r="http://schemas.openxmlformats.org/officeDocument/2006/relationships" id="2147483651" r:id="R051482f05b5740d1"/>
    <p:sldLayoutId xmlns:r="http://schemas.openxmlformats.org/officeDocument/2006/relationships" id="2147483652" r:id="Rd9b6f525d2494a42"/>
    <p:sldLayoutId xmlns:r="http://schemas.openxmlformats.org/officeDocument/2006/relationships" id="2147483653" r:id="R5dead2ea2b4345d9"/>
    <p:sldLayoutId xmlns:r="http://schemas.openxmlformats.org/officeDocument/2006/relationships" id="2147483654" r:id="R1aed37a2fa0a48f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657538defe483c" /><Relationship Type="http://schemas.openxmlformats.org/officeDocument/2006/relationships/notesSlide" Target="/ppt/notesSlides/notesSlide1.xml" Id="R2c69b362af1a408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22f6cf0a77c4395" /><Relationship Type="http://schemas.openxmlformats.org/officeDocument/2006/relationships/notesSlide" Target="/ppt/notesSlides/notesSlide2.xml" Id="R447804f2e3dc4f4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a56a93c0f9c4c51" /><Relationship Type="http://schemas.openxmlformats.org/officeDocument/2006/relationships/image" Target="/ppt/media/image.png" Id="R2ba6e66a89e5460d" /><Relationship Type="http://schemas.openxmlformats.org/officeDocument/2006/relationships/notesSlide" Target="/ppt/notesSlides/notesSlide3.xml" Id="R08b31b1b7729430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ad313495974db5" /><Relationship Type="http://schemas.openxmlformats.org/officeDocument/2006/relationships/notesSlide" Target="/ppt/notesSlides/notesSlide4.xml" Id="R8767dc712940486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b0ef600c1f64811" /><Relationship Type="http://schemas.openxmlformats.org/officeDocument/2006/relationships/chart" Target="/ppt/slides/charts/chart1.xml" Id="R49ee9b1c86414c48" /><Relationship Type="http://schemas.openxmlformats.org/officeDocument/2006/relationships/notesSlide" Target="/ppt/notesSlides/notesSlide5.xml" Id="Rc59cfd3013e8482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5954643e9e43ee" /><Relationship Type="http://schemas.openxmlformats.org/officeDocument/2006/relationships/chart" Target="/ppt/slides/charts/chart2.xml" Id="Rde342b7589e0473d" /><Relationship Type="http://schemas.openxmlformats.org/officeDocument/2006/relationships/notesSlide" Target="/ppt/notesSlides/notesSlide6.xml" Id="Rf6be784d02234c5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8939c159732431e" /><Relationship Type="http://schemas.openxmlformats.org/officeDocument/2006/relationships/notesSlide" Target="/ppt/notesSlides/notesSlide7.xml" Id="R1317cc66f29f4ba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a2d73de5974315" /><Relationship Type="http://schemas.openxmlformats.org/officeDocument/2006/relationships/notesSlide" Target="/ppt/notesSlides/notesSlide8.xml" Id="R1f3fa8305056413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825dc8e9524da9" /><Relationship Type="http://schemas.openxmlformats.org/officeDocument/2006/relationships/notesSlide" Target="/ppt/notesSlides/notesSlide9.xml" Id="R8286ad115d74437f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varyColors val="0"/>
        <c:ser>
          <c:idx val="0"/>
          <c:order val="0"/>
          <c:tx>
            <c:v>2019 = 100</c:v>
          </c:tx>
          <c:spPr>
            <a:solidFill xmlns:a="http://schemas.openxmlformats.org/drawingml/2006/main">
              <a:srgbClr val="22758C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Bronx</c:v>
                </c:pt>
                <c:pt idx="1">
                  <c:v>Brooklyn</c:v>
                </c:pt>
                <c:pt idx="2">
                  <c:v>Manhattan</c:v>
                </c:pt>
                <c:pt idx="3">
                  <c:v>Queens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58.4</c:v>
                </c:pt>
                <c:pt idx="1">
                  <c:v>72.1</c:v>
                </c:pt>
                <c:pt idx="2">
                  <c:v>71.3</c:v>
                </c:pt>
                <c:pt idx="3">
                  <c:v>75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2021</c:v>
          </c:tx>
          <c:spPr>
            <a:solidFill xmlns:a="http://schemas.openxmlformats.org/drawingml/2006/main">
              <a:srgbClr val="B79A7B"/>
            </a:solidFill>
          </c:spPr>
          <c:invertIfNegative val="0"/>
          <c:cat>
            <c:strRef>
              <c:f>'Chart Data'!$A$2:$A$4</c:f>
              <c:strCache>
                <c:ptCount val="3"/>
                <c:pt idx="0">
                  <c:v>Bronx</c:v>
                </c:pt>
                <c:pt idx="1">
                  <c:v>Brooklyn</c:v>
                </c:pt>
                <c:pt idx="2">
                  <c:v>Queens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53.53</c:v>
                </c:pt>
                <c:pt idx="1">
                  <c:v>42.07</c:v>
                </c:pt>
                <c:pt idx="2">
                  <c:v>47.09</c:v>
                </c:pt>
              </c:numCache>
            </c:numRef>
          </c:val>
        </c:ser>
        <c:ser>
          <c:idx val="1"/>
          <c:order val="1"/>
          <c:tx>
            <c:v>2024</c:v>
          </c:tx>
          <c:spPr>
            <a:solidFill xmlns:a="http://schemas.openxmlformats.org/drawingml/2006/main">
              <a:srgbClr val="22758C"/>
            </a:solidFill>
          </c:spPr>
          <c:invertIfNegative val="0"/>
          <c:cat>
            <c:strRef>
              <c:f>'Chart Data'!$C$2:$C$4</c:f>
              <c:strCache>
                <c:ptCount val="3"/>
                <c:pt idx="0">
                  <c:v>Bronx</c:v>
                </c:pt>
                <c:pt idx="1">
                  <c:v>Brooklyn</c:v>
                </c:pt>
                <c:pt idx="2">
                  <c:v>Queens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57.22</c:v>
                </c:pt>
                <c:pt idx="1">
                  <c:v>46.71</c:v>
                </c:pt>
                <c:pt idx="2">
                  <c:v>50.3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rial"/>
              <a:ea typeface="Arial"/>
              <a:cs typeface="Arial"/>
            </a:defRPr>
          </a:pPr>
        </a:p>
      </c:txPr>
    </c:legend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721895-04E3-472C-B013-38DDB4F77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93640"/>
                </a:solidFill>
                <a:latin typeface="Arial"/>
                <a:ea typeface="Arial"/>
                <a:cs typeface="Arial"/>
              </a:rPr>
              <a:t>Fractal · Borrador refinado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CCAAB1-442C-4F85-BE84-23279992C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668000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Demanda, conexiones y ritmos del subway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Renzo Acervo Correa · Stewart Maquera Bobadilla · José Condori Palomino</a:t>
            </a:r>
          </a:p>
          <a:p xmlns:a="http://schemas.openxmlformats.org/drawingml/2006/main">
            <a:pPr>
              <a:defRPr sz="23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UTEC · DS5343 · 2026-2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241A1B-9B50-4BDE-AFAB-45DE94C66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B74"/>
                </a:solidFill>
                <a:latin typeface="Arial"/>
                <a:ea typeface="Arial"/>
                <a:cs typeface="Arial"/>
              </a:rPr>
              <a:t>Fractal · Semana 12 · revisión del 28 de 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8278401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324835-4976-4015-A607-33946964E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93640"/>
                </a:solidFill>
                <a:latin typeface="Arial"/>
                <a:ea typeface="Arial"/>
                <a:cs typeface="Arial"/>
              </a:rPr>
              <a:t>Seis preguntas, seis resultados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FF855F-EB4B-4B67-B009-FB66FCAA2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668000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T1 · Redistribución territorial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T2 · Dependencia e intercambios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T3 · Ventanas de demanda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T4 · Corredores de soporte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T5 · Balance externo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T6 · Exposición a interrupciones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76C76E-73C5-4A7A-BF86-81F59D156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B74"/>
                </a:solidFill>
                <a:latin typeface="Arial"/>
                <a:ea typeface="Arial"/>
                <a:cs typeface="Arial"/>
              </a:rPr>
              <a:t>Fractal · Semana 12 · revisión del 28 de 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144663687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874624-0DEB-447A-BBA9-2832F70A8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93640"/>
                </a:solidFill>
                <a:latin typeface="Arial"/>
                <a:ea typeface="Arial"/>
                <a:cs typeface="Arial"/>
              </a:rPr>
              <a:t>Panel integrado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B040C5-928B-4474-9D89-DB7D245A9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B74"/>
                </a:solidFill>
                <a:latin typeface="Arial"/>
                <a:ea typeface="Arial"/>
                <a:cs typeface="Arial"/>
              </a:rPr>
              <a:t>Fractal · Semana 12 · revisión del 28 de octubre de 2026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2FD14D-5920-45B6-868A-5B8CEDDBF7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a6e66a89e5460d"/>
          <a:stretch xmlns:a="http://schemas.openxmlformats.org/drawingml/2006/main"/>
        </p:blipFill>
        <p:spPr>
          <a:xfrm xmlns:a="http://schemas.openxmlformats.org/drawingml/2006/main">
            <a:off x="2314355" y="1381125"/>
            <a:ext cx="7563289" cy="47148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902753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ACFC48-55E4-4433-A109-E17927BEF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93640"/>
                </a:solidFill>
                <a:latin typeface="Arial"/>
                <a:ea typeface="Arial"/>
                <a:cs typeface="Arial"/>
              </a:rPr>
              <a:t>2019 y 2020 en el contraste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E8F069-F207-435E-B805-750210E93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668000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Mapa: OD del año elegido, disponible 2021–2024.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Derecha: Base histórica incluye 2019 y 2020.</a:t>
            </a:r>
          </a:p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Al elegirlos, ambos años usan entradas MTA.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2019 es anterior a la pandemia.</a:t>
            </a:r>
          </a:p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2020 completo incluye la pandemia.</a:t>
            </a:r>
          </a:p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No se inventan OD ni caminos históricos.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64EFDE-87C8-4D29-B3A7-DAE7CB11C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B74"/>
                </a:solidFill>
                <a:latin typeface="Arial"/>
                <a:ea typeface="Arial"/>
                <a:cs typeface="Arial"/>
              </a:rPr>
              <a:t>Fractal · Semana 12 · revisión del 28 de 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214133780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490354-F776-49E6-AC5B-5921F662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93640"/>
                </a:solidFill>
                <a:latin typeface="Arial"/>
                <a:ea typeface="Arial"/>
                <a:cs typeface="Arial"/>
              </a:rPr>
              <a:t>La recuperación territorial es desigual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0C9806-4313-492E-BA72-545B5C74B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3714750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2024 frente a 2019 · semana representativa</a:t>
            </a:r>
          </a:p>
          <a:p xmlns:a="http://schemas.openxmlformats.org/drawingml/2006/main">
            <a: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Todos los meses · misma fuente en ambos extremos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46712E-B7A8-49BD-9725-F38304327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B74"/>
                </a:solidFill>
                <a:latin typeface="Arial"/>
                <a:ea typeface="Arial"/>
                <a:cs typeface="Arial"/>
              </a:rPr>
              <a:t>Fractal · Semana 12 · revisión del 28 de octubre de 2026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3AA4E480-AC4A-4669-840E-A760AB6A3E83}"/>
              </a:ext>
            </a:extLst>
          </p:cNvPr>
          <p:cNvGraphicFramePr/>
          <p:nvPr/>
        </p:nvGraphicFramePr>
        <p:xfrm>
          <a:off xmlns:a="http://schemas.openxmlformats.org/drawingml/2006/main" x="4714875" y="1657350"/>
          <a:ext xmlns:a="http://schemas.openxmlformats.org/drawingml/2006/main" cx="6762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9ee9b1c86414c48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0CB687-3FFA-4707-9E15-F0B213494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3714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El Bronx: 58,4 % del volumen de 2019.</a:t>
            </a:r>
          </a:p>
          <a:p xmlns:a="http://schemas.openxmlformats.org/drawingml/2006/main">
            <a: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Brooklyn pierde volumen y gana participación.</a:t>
            </a:r>
          </a:p>
        </p:txBody>
      </p:sp>
    </p:spTree>
    <p:extLst>
      <p:ext uri="{BB962C8B-B14F-4D97-AF65-F5344CB8AC3E}">
        <p14:creationId xmlns:p14="http://schemas.microsoft.com/office/powerpoint/2010/main" val="35003245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CBC8A1-5D91-405D-893A-77F5BD972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93640"/>
                </a:solidFill>
                <a:latin typeface="Arial"/>
                <a:ea typeface="Arial"/>
                <a:cs typeface="Arial"/>
              </a:rPr>
              <a:t>Aumenta la cuota hacia Manhattan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641FD4-E7C5-4914-97C7-EDA933C57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3714750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Participación en destinos desde cada borough</a:t>
            </a:r>
          </a:p>
          <a:p xmlns:a="http://schemas.openxmlformats.org/drawingml/2006/main">
            <a: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OD 2021 → 2024 · todos los meses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2EEAC8-46FB-4321-BF80-79B614FEA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B74"/>
                </a:solidFill>
                <a:latin typeface="Arial"/>
                <a:ea typeface="Arial"/>
                <a:cs typeface="Arial"/>
              </a:rPr>
              <a:t>Fractal · Semana 12 · revisión del 28 de octubre de 2026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957E11D3-2F7E-4BA9-B714-241D0D2DE14C}"/>
              </a:ext>
            </a:extLst>
          </p:cNvPr>
          <p:cNvGraphicFramePr/>
          <p:nvPr/>
        </p:nvGraphicFramePr>
        <p:xfrm>
          <a:off xmlns:a="http://schemas.openxmlformats.org/drawingml/2006/main" x="4714875" y="1657350"/>
          <a:ext xmlns:a="http://schemas.openxmlformats.org/drawingml/2006/main" cx="67627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e342b7589e0473d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4F9886-F5E1-4419-8B5C-20B1B4C7A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3714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Cantidad y participación deben leerse juntas.</a:t>
            </a:r>
          </a:p>
          <a:p xmlns:a="http://schemas.openxmlformats.org/drawingml/2006/main">
            <a:pPr>
              <a:defRPr sz="202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No se infieren motivos de viaje.</a:t>
            </a:r>
          </a:p>
        </p:txBody>
      </p:sp>
    </p:spTree>
    <p:extLst>
      <p:ext uri="{BB962C8B-B14F-4D97-AF65-F5344CB8AC3E}">
        <p14:creationId xmlns:p14="http://schemas.microsoft.com/office/powerpoint/2010/main" val="156599741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648275-4EAA-4081-89EF-2A4669EA2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93640"/>
                </a:solidFill>
                <a:latin typeface="Arial"/>
                <a:ea typeface="Arial"/>
                <a:cs typeface="Arial"/>
              </a:rPr>
              <a:t>Respuesta a crítica e iteración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642852-D177-4955-B87E-CA649884E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668000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Profesor: mayor protagonismo visual y contexto geográfico.</a:t>
            </a:r>
          </a:p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Usuario: panel único, reloj principal y sin reproducción.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Implementado: sliders apilados, vuelta a vista general, selección enlazada, contraste histórico y refinamiento GPU cuando está disponible.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Se conservan los comentarios originales y su procedencia.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808398-C378-4B3E-928C-07BA69B4A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B74"/>
                </a:solidFill>
                <a:latin typeface="Arial"/>
                <a:ea typeface="Arial"/>
                <a:cs typeface="Arial"/>
              </a:rPr>
              <a:t>Fractal · Semana 12 · revisión del 28 de 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53402078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F71CD1-88D3-4831-95FC-78E866433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93640"/>
                </a:solidFill>
                <a:latin typeface="Arial"/>
                <a:ea typeface="Arial"/>
                <a:cs typeface="Arial"/>
              </a:rPr>
              <a:t>Alcance y límites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4E93B2-6227-44B0-B8A7-D724E06CB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668000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OD = estimación por cohorte de inicio.</a:t>
            </a:r>
          </a:p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Camino asignado ≠ recorrido observado.</a:t>
            </a:r>
          </a:p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Red 2026 ≠ servicio histórico.</a:t>
            </a:r>
          </a:p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Grosor aparente ≠ carga exacta ni capacidad.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Los escenarios mantienen demanda fija; no predicen demoras. Las asociaciones temporales no demuestran causas.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AA714B-71A9-475E-B692-33C54AF7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B74"/>
                </a:solidFill>
                <a:latin typeface="Arial"/>
                <a:ea typeface="Arial"/>
                <a:cs typeface="Arial"/>
              </a:rPr>
              <a:t>Fractal · Semana 12 · revisión del 28 de 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195733105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7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A22D26-314B-425B-860B-DA8C3BEC2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defPPr>
            <a:lvl1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1pPr>
            <a:lvl2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2pPr>
            <a:lvl3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3pPr>
            <a:lvl4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4pPr>
            <a:lvl5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5pPr>
            <a:lvl6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6pPr>
            <a:lvl7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7pPr>
            <a:lvl8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8pPr>
            <a:lvl9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93640"/>
                </a:solidFill>
                <a:latin typeface="Arial"/>
                <a:ea typeface="Arial"/>
                <a:cs typeface="Arial"/>
              </a:rPr>
              <a:t>Plan para el cierre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9E37EE-316F-4792-A792-576751AB0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668000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Cálculos para las seis tareas: preparados y verificables.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Pendiente en la interfaz: síntesis territorial, balance externo, consulta exacta por tramo, detector de ventanas y escenario de interrupción.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Evaluación con personas y auditoría completa de accesibilidad: pendientes.</a:t>
            </a:r>
          </a:p>
          <a:p xmlns:a="http://schemas.openxmlformats.org/drawingml/2006/main">
            <a:pPr>
              <a:defRPr sz="2175" b="0">
                <a:solidFill>
                  <a:srgbClr val="19364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93640"/>
                </a:solidFill>
                <a:latin typeface="Arial"/>
                <a:ea typeface="Arial"/>
                <a:cs typeface="Arial"/>
              </a:rPr>
              <a:t>Responsables propuestos a ratificar con el equipo.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C4B046-01A3-4789-8883-45E872BD3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6745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26B7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B74"/>
                </a:solidFill>
                <a:latin typeface="Arial"/>
                <a:ea typeface="Arial"/>
                <a:cs typeface="Arial"/>
              </a:rPr>
              <a:t>Fractal · Semana 12 · revisión del 28 de 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159265802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2026-10-28T15:50:04.9600000Z</dcterms:created>
  <dcterms:modified xsi:type="dcterms:W3CDTF">2026-10-28T15:50:04.9600000Z</dcterms:modified>
</coreProperties>
</file>