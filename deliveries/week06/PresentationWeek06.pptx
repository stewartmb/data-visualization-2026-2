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6d118890454b2c" /><Relationship Type="http://schemas.openxmlformats.org/officeDocument/2006/relationships/extended-properties" Target="/docProps/app.xml" Id="R89ce2c7fbfd34f91" /><Relationship Type="http://schemas.openxmlformats.org/officeDocument/2006/relationships/officeDocument" Target="/ppt/presentation.xml" Id="Rd16585ab283c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a93a6eb1242e5"/>
  </p:sldMasterIdLst>
  <p:notesMasterIdLst>
    <p:notesMasterId xmlns:r="http://schemas.openxmlformats.org/officeDocument/2006/relationships" r:id="Re8c9dc1ce3774f1c"/>
  </p:notesMasterIdLst>
  <p:sldIdLst>
    <p:sldId xmlns:r="http://schemas.openxmlformats.org/officeDocument/2006/relationships" id="256" r:id="R21c3de43de3d4396"/>
    <p:sldId xmlns:r="http://schemas.openxmlformats.org/officeDocument/2006/relationships" id="257" r:id="Rbcf9919b095a4b41"/>
    <p:sldId xmlns:r="http://schemas.openxmlformats.org/officeDocument/2006/relationships" id="258" r:id="Rfbc37dba8f394ab1"/>
    <p:sldId xmlns:r="http://schemas.openxmlformats.org/officeDocument/2006/relationships" id="259" r:id="R46da066179ce45eb"/>
    <p:sldId xmlns:r="http://schemas.openxmlformats.org/officeDocument/2006/relationships" id="260" r:id="Rc1ddd514b4c7425f"/>
    <p:sldId xmlns:r="http://schemas.openxmlformats.org/officeDocument/2006/relationships" id="261" r:id="Rd628798ecc2c4721"/>
    <p:sldId xmlns:r="http://schemas.openxmlformats.org/officeDocument/2006/relationships" id="262" r:id="R5cdc98a1d3204d12"/>
    <p:sldId xmlns:r="http://schemas.openxmlformats.org/officeDocument/2006/relationships" id="263" r:id="R25a785eb6b6d45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b7c169fff54661" /><Relationship Type="http://schemas.openxmlformats.org/officeDocument/2006/relationships/slideMaster" Target="/ppt/slideMasters/slideMaster1.xml" Id="R0d3a93a6eb1242e5" /><Relationship Type="http://schemas.openxmlformats.org/officeDocument/2006/relationships/notesMaster" Target="/ppt/notesMasters/notesMaster1.xml" Id="Re8c9dc1ce3774f1c" /><Relationship Type="http://schemas.openxmlformats.org/officeDocument/2006/relationships/presProps" Target="/ppt/presProps.xml" Id="R9f248b2027304fb2" /><Relationship Type="http://schemas.openxmlformats.org/officeDocument/2006/relationships/tableStyles" Target="/ppt/tableStyles.xml" Id="Rf1f33331c8744cce" /><Relationship Type="http://schemas.openxmlformats.org/officeDocument/2006/relationships/slide" Target="/ppt/slides/slide1.xml" Id="R21c3de43de3d4396" /><Relationship Type="http://schemas.openxmlformats.org/officeDocument/2006/relationships/slide" Target="/ppt/slides/slide2.xml" Id="Rbcf9919b095a4b41" /><Relationship Type="http://schemas.openxmlformats.org/officeDocument/2006/relationships/slide" Target="/ppt/slides/slide3.xml" Id="Rfbc37dba8f394ab1" /><Relationship Type="http://schemas.openxmlformats.org/officeDocument/2006/relationships/slide" Target="/ppt/slides/slide4.xml" Id="R46da066179ce45eb" /><Relationship Type="http://schemas.openxmlformats.org/officeDocument/2006/relationships/slide" Target="/ppt/slides/slide5.xml" Id="Rc1ddd514b4c7425f" /><Relationship Type="http://schemas.openxmlformats.org/officeDocument/2006/relationships/slide" Target="/ppt/slides/slide6.xml" Id="Rd628798ecc2c4721" /><Relationship Type="http://schemas.openxmlformats.org/officeDocument/2006/relationships/slide" Target="/ppt/slides/slide7.xml" Id="R5cdc98a1d3204d12" /><Relationship Type="http://schemas.openxmlformats.org/officeDocument/2006/relationships/slide" Target="/ppt/slides/slide8.xml" Id="R25a785eb6b6d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ba9616728c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2991ba9314c73" /><Relationship Type="http://schemas.openxmlformats.org/officeDocument/2006/relationships/notesMaster" Target="/ppt/notesMasters/notesMaster1.xml" Id="R17682477725241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1233f5cb6448da" /><Relationship Type="http://schemas.openxmlformats.org/officeDocument/2006/relationships/notesMaster" Target="/ppt/notesMasters/notesMaster1.xml" Id="Rb89a6ef7b8f4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5343b9cacf4685" /><Relationship Type="http://schemas.openxmlformats.org/officeDocument/2006/relationships/notesMaster" Target="/ppt/notesMasters/notesMaster1.xml" Id="R22b0f1a295b949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05979f9d8c4f34" /><Relationship Type="http://schemas.openxmlformats.org/officeDocument/2006/relationships/notesMaster" Target="/ppt/notesMasters/notesMaster1.xml" Id="R1267522161cd4d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b1550cf1a64ed6" /><Relationship Type="http://schemas.openxmlformats.org/officeDocument/2006/relationships/notesMaster" Target="/ppt/notesMasters/notesMaster1.xml" Id="R05624703ef114d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2fb18ab554c8b" /><Relationship Type="http://schemas.openxmlformats.org/officeDocument/2006/relationships/notesMaster" Target="/ppt/notesMasters/notesMaster1.xml" Id="R2eff13761ade48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408c61e8da4d23" /><Relationship Type="http://schemas.openxmlformats.org/officeDocument/2006/relationships/notesMaster" Target="/ppt/notesMasters/notesMaster1.xml" Id="Rca63f063159a44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4aac318bd4c06" /><Relationship Type="http://schemas.openxmlformats.org/officeDocument/2006/relationships/notesMaster" Target="/ppt/notesMasters/notesMaster1.xml" Id="R70dfaa2b8318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Revisión de alcance del 28 de octubre, sin reescribir la cronología de la entrega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RAEB doi:10.1111/cgf.13712; KDEEB doi:10.1111/j.1467-8659.2012.03079.x; TV doi:10.1007/s42421-025-00141-5; reloj doi:10.1007/978-3-030-65742-0_9.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Boceto estático con datos reales, fidelidad 1. No es captura ni resultado del solver. Interacciones en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Resultados: deliveries/week12/data/analytical_tasks/T1_territory.csv. Índice de volumen territorial, no porcentaje de personas.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9c23a1fbe4c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d1f232ac541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f84726f2f48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b38676ab843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4926effb441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049b050c5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91ACF6-8ECD-4A38-80D7-4989DD624E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E877E4-3887-4066-A7C6-7D5DABABAD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610B68-6CC1-4725-ABE0-090380B6A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8A137C-4286-4D55-B06A-C01307E85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573640-2827-4600-B65E-A19AEF054F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EB1E0-01B2-4992-A727-4FF70E9DC3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F23F26-2F8E-40C1-87DC-439374E0D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29D7B0-7D68-4CE8-9799-EF658A7DE4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91C516-E01B-4307-8AF9-41FEDA3383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200C98-CC16-499C-B23D-8063F36382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a5863ee544fd0" /><Relationship Type="http://schemas.openxmlformats.org/officeDocument/2006/relationships/slideLayout" Target="/ppt/slideLayouts/slideLayout1.xml" Id="R386bb8b6efb948bd" /><Relationship Type="http://schemas.openxmlformats.org/officeDocument/2006/relationships/slideLayout" Target="/ppt/slideLayouts/slideLayout2.xml" Id="Rc3001d09b6a6410c" /><Relationship Type="http://schemas.openxmlformats.org/officeDocument/2006/relationships/slideLayout" Target="/ppt/slideLayouts/slideLayout3.xml" Id="R705834a564ff4ffc" /><Relationship Type="http://schemas.openxmlformats.org/officeDocument/2006/relationships/slideLayout" Target="/ppt/slideLayouts/slideLayout4.xml" Id="R2d108c5da2d847e5" /><Relationship Type="http://schemas.openxmlformats.org/officeDocument/2006/relationships/slideLayout" Target="/ppt/slideLayouts/slideLayout5.xml" Id="R8ce390339c8341ad" /><Relationship Type="http://schemas.openxmlformats.org/officeDocument/2006/relationships/slideLayout" Target="/ppt/slideLayouts/slideLayout6.xml" Id="R315a2b6213674c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6bb8b6efb948bd"/>
    <p:sldLayoutId xmlns:r="http://schemas.openxmlformats.org/officeDocument/2006/relationships" id="2147483650" r:id="Rc3001d09b6a6410c"/>
    <p:sldLayoutId xmlns:r="http://schemas.openxmlformats.org/officeDocument/2006/relationships" id="2147483651" r:id="R705834a564ff4ffc"/>
    <p:sldLayoutId xmlns:r="http://schemas.openxmlformats.org/officeDocument/2006/relationships" id="2147483652" r:id="R2d108c5da2d847e5"/>
    <p:sldLayoutId xmlns:r="http://schemas.openxmlformats.org/officeDocument/2006/relationships" id="2147483653" r:id="R8ce390339c8341ad"/>
    <p:sldLayoutId xmlns:r="http://schemas.openxmlformats.org/officeDocument/2006/relationships" id="2147483654" r:id="R315a2b6213674c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233e4df9844fab" /><Relationship Type="http://schemas.openxmlformats.org/officeDocument/2006/relationships/notesSlide" Target="/ppt/notesSlides/notesSlide1.xml" Id="Rce3fc76b231440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bf38f3c504014" /><Relationship Type="http://schemas.openxmlformats.org/officeDocument/2006/relationships/notesSlide" Target="/ppt/notesSlides/notesSlide2.xml" Id="Ra92570c34a9a40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51d4be384461d" /><Relationship Type="http://schemas.openxmlformats.org/officeDocument/2006/relationships/notesSlide" Target="/ppt/notesSlides/notesSlide3.xml" Id="R2aedb3a3680f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bb1d611584381" /><Relationship Type="http://schemas.openxmlformats.org/officeDocument/2006/relationships/notesSlide" Target="/ppt/notesSlides/notesSlide4.xml" Id="R78eb11c5d1b942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d3ce53c494be7" /><Relationship Type="http://schemas.openxmlformats.org/officeDocument/2006/relationships/image" Target="/ppt/media/image.png" Id="Rd515c90a1ed64073" /><Relationship Type="http://schemas.openxmlformats.org/officeDocument/2006/relationships/notesSlide" Target="/ppt/notesSlides/notesSlide5.xml" Id="R95d14ea44c1744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8e0f217224596" /><Relationship Type="http://schemas.openxmlformats.org/officeDocument/2006/relationships/chart" Target="/ppt/slides/charts/chart1.xml" Id="Re5771245cb18452e" /><Relationship Type="http://schemas.openxmlformats.org/officeDocument/2006/relationships/notesSlide" Target="/ppt/notesSlides/notesSlide6.xml" Id="R57734003d42d41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65c05d1b14022" /><Relationship Type="http://schemas.openxmlformats.org/officeDocument/2006/relationships/notesSlide" Target="/ppt/notesSlides/notesSlide7.xml" Id="R57791f0cddf34c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b85323b694686" /><Relationship Type="http://schemas.openxmlformats.org/officeDocument/2006/relationships/notesSlide" Target="/ppt/notesSlides/notesSlide8.xml" Id="Rbaa54af501c94ea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2019 = 100</c:v>
          </c:tx>
          <c:spPr>
            <a:solidFill xmlns:a="http://schemas.openxmlformats.org/drawingml/2006/main">
              <a:srgbClr val="22758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58.4</c:v>
                </c:pt>
                <c:pt idx="1">
                  <c:v>72.1</c:v>
                </c:pt>
                <c:pt idx="2">
                  <c:v>71.3</c:v>
                </c:pt>
                <c:pt idx="3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A607-0AD0-44E4-A38F-31E8297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Fractal · Análisis y literatura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8F29C-4328-41D2-B89A-FB7B0076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Demanda, conexiones y ritmos del subway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Renzo Acervo Correa · Stewart Maquera Bobadilla · José Condori Palomino</a:t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UTEC · DS5343 · 2026-2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FAC0E-FB44-4DD3-8CBF-78D8E8C4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784825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A90DE-335F-4035-BD9A-BC0C9D76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Datos y transformaciones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042D0-4D4A-4284-A617-99B47F94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Entradas 2019–2024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72 meses · 141.836.156 registros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OD estimado 2021–2024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48 meses · 446.399.011 registros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Referencia GTFS 2026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424 complejos · 547 enlaces ferroviarios + 2 transferencias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9ACE1-F599-4A7C-A0F5-FA220CA5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33005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A6E73-9D6E-432F-8D51-268E96A3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Comparar cantidad y distribución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46F77-5486-4123-A73F-A19BE16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Semana representativa con calendario estandarizado.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p = cantidades / total semanal.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Índice = 100 × V objetivo / V base.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TV (pp) = 50 × Σ |p objetivo − p base|.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Misma fuente en ambos años; no promediar ratios de estaciones.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B78C3-BFDE-4169-87A5-5C736734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65977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3B2C7-B25F-4E45-B334-F21D99C1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Papers que informan el panel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3022A-C39E-4D77-B243-5EFDE6B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RAEB: jerarquía de rutas y abstracción.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KDEEB: densidad, advección y suavizado.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Dhont: huella semanal circular y resta.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Fredriksson–Karlström: TV, ecuación 11.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Brehmer–Munzner, Gleicher y Shneiderman: tareas, comparación y recorrido.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88327-D95E-46C1-9F4F-614F332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60925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D7442-1B9B-4EAE-B975-65BB421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Composición y alternativas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447AD-CDA4-4152-BAB0-21653940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524B5-50BC-4066-86EA-062519710E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5c90a1ed64073"/>
          <a:stretch xmlns:a="http://schemas.openxmlformats.org/drawingml/2006/main"/>
        </p:blipFill>
        <p:spPr>
          <a:xfrm xmlns:a="http://schemas.openxmlformats.org/drawingml/2006/main">
            <a:off x="2314355" y="1381125"/>
            <a:ext cx="7563289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23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91111-01C6-4157-B155-35BF8293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La recuperación territorial es desigual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C3FF6-7244-4AF1-ABF1-0899F01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714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2024 frente a 2019 · semana representativa</a:t>
            </a:r>
          </a:p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Todos los meses · misma fuente en ambos extremos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3C303-1099-4EEA-9759-CD9B69FD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472995C-C3BB-4D3C-96B5-E0C5E1E6EEB1}"/>
              </a:ext>
            </a:extLst>
          </p:cNvPr>
          <p:cNvGraphicFramePr/>
          <p:nvPr/>
        </p:nvGraphicFramePr>
        <p:xfrm>
          <a:off xmlns:a="http://schemas.openxmlformats.org/drawingml/2006/main" x="4714875" y="1657350"/>
          <a:ext xmlns:a="http://schemas.openxmlformats.org/drawingml/2006/main" cx="6762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771245cb18452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52A15-8849-4556-9DF3-BF4F8DE6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El Bronx: 58,4 % del volumen de 2019.</a:t>
            </a:r>
          </a:p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Brooklyn pierde volumen y gana participación.</a:t>
            </a:r>
          </a:p>
        </p:txBody>
      </p:sp>
    </p:spTree>
    <p:extLst>
      <p:ext uri="{BB962C8B-B14F-4D97-AF65-F5344CB8AC3E}">
        <p14:creationId xmlns:p14="http://schemas.microsoft.com/office/powerpoint/2010/main" val="1584994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D9190-7867-400A-8E32-EB295BF3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Datos detrás de las seis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70EAC-4691-46C4-8B36-308E4D72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T1: cantidades y participación territorial.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T2: matriz de relaciones y composición.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T3: ventanas móviles de tres horas.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T4: carga modelada por enlace.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T5: balance externo por cohorte.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T6: seis escenarios de retirada de enlace.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CSV completos, muestras y controles incluidos.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3668B-54D3-4268-A2F3-AEDB637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950652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212D2-942A-4407-AAE2-00EAD18D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Límites de la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4C139-63FB-46BB-A0C1-E82EA2B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OD = estimación por cohorte de inicio.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Camino asignado ≠ recorrido observado.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Red 2026 ≠ servicio histórico.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Grosor aparente ≠ carga exacta ni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Los escenarios mantienen demanda fija; no predicen demoras. Las asociaciones temporales no demuestran causas.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D9B83-3D9A-4428-9BDE-4CF5F86F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06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09014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2026-10-28T15:49:57.1760000Z</dcterms:created>
  <dcterms:modified xsi:type="dcterms:W3CDTF">2026-10-28T15:49:57.1760000Z</dcterms:modified>
</coreProperties>
</file>