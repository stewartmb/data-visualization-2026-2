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minutos: problema y audiencia · demo · decisiones y alternativas · seis preguntas.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en vivo: cargar la página, dejar que el pico se desdibuje, bajar con → al capítulo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el capítulo 5 en vivo. Luego el botón "ver estas estaciones en el explorador".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en vivo: clic en Parkchester o Yankee Stadium. Mostrar el aviso de estacionalidad.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falta tiempo, contar solo las filas 1, 3 y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Dejar esta diapositiva en pantalla y anotar todo: la Semana 12 pide responder sugerencia por sugerencia.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0"/>
          </a:xfrm>
          <a:prstGeom prst="rect">
            <a:avLst/>
          </a:prstGeom>
          <a:solidFill>
            <a:srgbClr val="1B4F8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57200"/>
            <a:ext cx="12161520" cy="100584"/>
          </a:xfrm>
          <a:prstGeom prst="rect">
            <a:avLst/>
          </a:prstGeom>
          <a:solidFill>
            <a:srgbClr val="E07A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828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forma del día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6974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cambió el ritmo horario del metro de Nueva York, 2020–2024 — y quién no lo cambió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2461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Prototipo funcional · design review · Semana 10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9319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Renzo Acervo  ·  Stewart Maquera  ·  José Condori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1B4F8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74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y audiencia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85800" y="896112"/>
            <a:ext cx="1371600" cy="41148"/>
          </a:xfrm>
          <a:prstGeom prst="rect">
            <a:avLst/>
          </a:prstGeom>
          <a:solidFill>
            <a:srgbClr val="E07A16"/>
          </a:solidFill>
          <a:ln/>
        </p:spPr>
      </p:sp>
      <p:sp>
        <p:nvSpPr>
          <p:cNvPr id="5" name="Shape 3"/>
          <p:cNvSpPr/>
          <p:nvPr/>
        </p:nvSpPr>
        <p:spPr>
          <a:xfrm>
            <a:off x="2057400" y="914400"/>
            <a:ext cx="9418320" cy="13716"/>
          </a:xfrm>
          <a:prstGeom prst="rect">
            <a:avLst/>
          </a:prstGeom>
          <a:solidFill>
            <a:srgbClr val="D5D5D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325880"/>
            <a:ext cx="10515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metro se programa alrededor del doble pico del día laborable. Entre 2020 y 2024 esa forma cambió; la recuperación se reporta con un solo número que no dice a qué hora ni en qué barrios.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 de análisis: el perfil horario de cada estación, 24 × 7 = 168 valores normalizados por su total. Describe su ritmo, no su tamaño.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pregunta cambió. Que el pico se aplanó ya se sabía. La pregunta es quién resistió y dónde.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3566160"/>
            <a:ext cx="5120640" cy="173736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97280" y="37307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AUDIENCIA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404164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Investigadores de transporte urbano, periodismo de datos, gobierno local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4773168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no "planificadores de la MTA": la MTA tiene datos internos muy superiores a las entradas públicas.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309360" y="3566160"/>
            <a:ext cx="5029200" cy="173736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83680" y="373075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583680" y="404164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428 estaciones · 60 meses · 120 855 568 registros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0" y="4553712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Agregados del lado del servidor con la API SODA. El navegador carga 1.6 MB.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1B4F8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74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prototipo: un argumento, no un dashboard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85800" y="896112"/>
            <a:ext cx="1371600" cy="41148"/>
          </a:xfrm>
          <a:prstGeom prst="rect">
            <a:avLst/>
          </a:prstGeom>
          <a:solidFill>
            <a:srgbClr val="E07A16"/>
          </a:solidFill>
          <a:ln/>
        </p:spPr>
      </p:sp>
      <p:sp>
        <p:nvSpPr>
          <p:cNvPr id="5" name="Shape 3"/>
          <p:cNvSpPr/>
          <p:nvPr/>
        </p:nvSpPr>
        <p:spPr>
          <a:xfrm>
            <a:off x="2057400" y="914400"/>
            <a:ext cx="9418320" cy="13716"/>
          </a:xfrm>
          <a:prstGeom prst="rect">
            <a:avLst/>
          </a:prstGeom>
          <a:solidFill>
            <a:srgbClr val="D5D5D5"/>
          </a:solidFill>
          <a:ln/>
        </p:spPr>
      </p:sp>
      <p:pic>
        <p:nvPicPr>
          <p:cNvPr id="6" name="Image 0" descr="/home/claude/w10v2/capturas/01-inic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097280"/>
            <a:ext cx="6949440" cy="4343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0" y="11430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SIETE CAPÍTULOS + UN EXPLORADOR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772400" y="148132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092440" y="148132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forma del día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7772400" y="1865376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8092440" y="1865376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¿Cuánta gente volvió?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772400" y="2249424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092440" y="2249424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¿Sigue existiendo el doble pico?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0" y="26334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8092440" y="263347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¿Para qué se usa cada estación?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772400" y="30175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8092440" y="30175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cambió más: cuánto o cómo?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7772400" y="340156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092440" y="340156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el Bronx?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7772400" y="3785616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8092440" y="3785616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¿Quién dejó de comprar el abono?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772400" y="4169664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8092440" y="4169664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no podemos afirmar?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7772400" y="466344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capítulo: una pregunta, el hallazgo como frase, el gráfico, cómo se mide, qué no demuestra, y un botón al explorador ya configurado.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822960" y="5989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hallazgos los genera build_model.py desde los datos. Dos son negativos: lo que los datos no sostienen.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1B4F8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74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hallazgo: el Bronx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85800" y="896112"/>
            <a:ext cx="1371600" cy="41148"/>
          </a:xfrm>
          <a:prstGeom prst="rect">
            <a:avLst/>
          </a:prstGeom>
          <a:solidFill>
            <a:srgbClr val="E07A16"/>
          </a:solidFill>
          <a:ln/>
        </p:spPr>
      </p:sp>
      <p:sp>
        <p:nvSpPr>
          <p:cNvPr id="5" name="Shape 3"/>
          <p:cNvSpPr/>
          <p:nvPr/>
        </p:nvSpPr>
        <p:spPr>
          <a:xfrm>
            <a:off x="2057400" y="914400"/>
            <a:ext cx="9418320" cy="13716"/>
          </a:xfrm>
          <a:prstGeom prst="rect">
            <a:avLst/>
          </a:prstGeom>
          <a:solidFill>
            <a:srgbClr val="D5D5D5"/>
          </a:solidFill>
          <a:ln/>
        </p:spPr>
      </p:sp>
      <p:pic>
        <p:nvPicPr>
          <p:cNvPr id="6" name="Image 0" descr="/home/claude/w10v2/capturas/06-bron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097280"/>
            <a:ext cx="694944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772400" y="1188720"/>
            <a:ext cx="4114800" cy="36576"/>
          </a:xfrm>
          <a:prstGeom prst="rect">
            <a:avLst/>
          </a:prstGeom>
          <a:solidFill>
            <a:srgbClr val="E07A16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772400" y="137160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Perdió más pasajeros que nadie y es el único borough donde el día no cambió de forma.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772400" y="2560320"/>
            <a:ext cx="91440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7"/>
          <p:cNvSpPr txBox="1"/>
          <p:nvPr/>
        </p:nvSpPr>
        <p:spPr>
          <a:xfrm>
            <a:off x="7772400" y="26060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9052560" y="26060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recup.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10058400" y="26060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pico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10881360" y="2606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aplanaron &gt;5 %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7772400" y="29077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Bronx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9052560" y="290779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56 %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10058400" y="290779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−5 %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10881360" y="290779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51 %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7772400" y="323697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Brooklyn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9052560" y="323697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69 %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058400" y="323697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−19 %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10881360" y="323697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92 %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7772400" y="35661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Queens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9052560" y="35661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69 %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10058400" y="35661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−18 %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10881360" y="35661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85 %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7772400" y="389534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Manhattan</a:t>
            </a:r>
            <a:endParaRPr lang="en-US" sz="1250" dirty="0"/>
          </a:p>
        </p:txBody>
      </p:sp>
      <p:sp>
        <p:nvSpPr>
          <p:cNvPr id="27" name="Text 24"/>
          <p:cNvSpPr txBox="1"/>
          <p:nvPr/>
        </p:nvSpPr>
        <p:spPr>
          <a:xfrm>
            <a:off x="9052560" y="389534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69 %</a:t>
            </a:r>
            <a:endParaRPr lang="en-US" sz="1250" dirty="0"/>
          </a:p>
        </p:txBody>
      </p:sp>
      <p:sp>
        <p:nvSpPr>
          <p:cNvPr id="28" name="Text 25"/>
          <p:cNvSpPr txBox="1"/>
          <p:nvPr/>
        </p:nvSpPr>
        <p:spPr>
          <a:xfrm>
            <a:off x="10058400" y="389534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−16 %</a:t>
            </a:r>
            <a:endParaRPr 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10881360" y="389534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79 %</a:t>
            </a:r>
            <a:endParaRPr lang="en-US" sz="1250" dirty="0"/>
          </a:p>
        </p:txBody>
      </p:sp>
      <p:sp>
        <p:nvSpPr>
          <p:cNvPr id="30" name="Text 27"/>
          <p:cNvSpPr txBox="1"/>
          <p:nvPr/>
        </p:nvSpPr>
        <p:spPr>
          <a:xfrm>
            <a:off x="7772400" y="434340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Aplanar el pico es lo que hace el trabajo híbrido. Donde la gente no puede quedarse en casa, el pico se queda y solo baja el volumen.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7772400" y="530352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una hipótesis consistente con los datos, no una medición. Aguanta tres pruebas de robustez.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1B4F8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74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explorador y la evidencia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85800" y="896112"/>
            <a:ext cx="1371600" cy="41148"/>
          </a:xfrm>
          <a:prstGeom prst="rect">
            <a:avLst/>
          </a:prstGeom>
          <a:solidFill>
            <a:srgbClr val="E07A16"/>
          </a:solidFill>
          <a:ln/>
        </p:spPr>
      </p:sp>
      <p:sp>
        <p:nvSpPr>
          <p:cNvPr id="5" name="Shape 3"/>
          <p:cNvSpPr/>
          <p:nvPr/>
        </p:nvSpPr>
        <p:spPr>
          <a:xfrm>
            <a:off x="2057400" y="914400"/>
            <a:ext cx="9418320" cy="13716"/>
          </a:xfrm>
          <a:prstGeom prst="rect">
            <a:avLst/>
          </a:prstGeom>
          <a:solidFill>
            <a:srgbClr val="D5D5D5"/>
          </a:solidFill>
          <a:ln/>
        </p:spPr>
      </p:sp>
      <p:pic>
        <p:nvPicPr>
          <p:cNvPr id="6" name="Image 0" descr="/home/claude/w10v2/capturas/10-explorador-pa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097280"/>
            <a:ext cx="6949440" cy="4343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0" y="1188720"/>
            <a:ext cx="41148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vistas, una sola selección: mapa con cuatro lentes, rejilla de 168 h, dispersión con brush, serie con brush.</a:t>
            </a:r>
            <a:endParaRPr lang="en-US" sz="125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clic en una estación abre su panel: cifras, perfil antes/después, serie mensual y la tabla con los números detrás de cada afirmación.</a:t>
            </a:r>
            <a:endParaRPr lang="en-US" sz="125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la comparación es poco confiable, el panel dice por qué. Nada se esconde.</a:t>
            </a:r>
            <a:endParaRPr lang="en-US" sz="125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clave visual dice qué significa cada marca y qué no: "más azul no es mejor".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1B4F8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74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de diseño y alternativas descartadas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85800" y="896112"/>
            <a:ext cx="1371600" cy="41148"/>
          </a:xfrm>
          <a:prstGeom prst="rect">
            <a:avLst/>
          </a:prstGeom>
          <a:solidFill>
            <a:srgbClr val="E07A16"/>
          </a:solidFill>
          <a:ln/>
        </p:spPr>
      </p:sp>
      <p:sp>
        <p:nvSpPr>
          <p:cNvPr id="5" name="Shape 3"/>
          <p:cNvSpPr/>
          <p:nvPr/>
        </p:nvSpPr>
        <p:spPr>
          <a:xfrm>
            <a:off x="2057400" y="914400"/>
            <a:ext cx="9418320" cy="13716"/>
          </a:xfrm>
          <a:prstGeom prst="rect">
            <a:avLst/>
          </a:prstGeom>
          <a:solidFill>
            <a:srgbClr val="D5D5D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05840" y="1024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ELEGIMOS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3474720" y="102412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DESCARTAMOS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6126480" y="1024128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22960" y="1280160"/>
            <a:ext cx="10515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05840" y="138988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Argumento + explorador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3474720" y="138988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paneles en una pantalla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126480" y="138988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Funcionaban y no contaban nada. Estructura tomada de FINO (VAST 2026): preguntas como títulos, hallazgos como frases, evidencia a un clic.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22960" y="2103120"/>
            <a:ext cx="10515600" cy="731520"/>
          </a:xfrm>
          <a:prstGeom prst="rect">
            <a:avLst/>
          </a:prstGeom>
          <a:solidFill>
            <a:srgbClr val="F7F9FB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221284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Tipología por asimetría AM/PM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3474720" y="221284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 de los 168 valores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126480" y="221284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Tiene significado físico (salir de casa / salir del trabajo), es un número por estación y se explica en una frase.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22960" y="2926080"/>
            <a:ext cx="10515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05840" y="303580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Marcar la confiabilidad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3474720" y="303580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excluir las estaciones dudosas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6126480" y="303580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Excluir esconde; marcar informa. 37 estaciones con anillo punteado y motivo, fuera de las medianas.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22960" y="3749040"/>
            <a:ext cx="10515600" cy="731520"/>
          </a:xfrm>
          <a:prstGeom prst="rect">
            <a:avLst/>
          </a:prstGeom>
          <a:solidFill>
            <a:srgbClr val="F7F9FB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05840" y="385876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Misma ventana calendario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3474720" y="385876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ene–feb 2020 vs todo 2024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126480" y="385876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155 estaciones cambiaban más de 5 puntos según la ventana. Mets-Willets Point: de 287 % a 86 %.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22960" y="4572000"/>
            <a:ext cx="10515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05840" y="468172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lentes en un mapa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3474720" y="468172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mapas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6126480" y="468172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lector compara con el ojo, no con la memoria: posición y tamaño se conservan.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22960" y="5394960"/>
            <a:ext cx="10515600" cy="731520"/>
          </a:xfrm>
          <a:prstGeom prst="rect">
            <a:avLst/>
          </a:prstGeom>
          <a:solidFill>
            <a:srgbClr val="F7F9FB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05840" y="550468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gris + línea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3474720" y="550468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líneas superpuestas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6126480" y="550468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escala de small multiple el "antes" quedaba tapado.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1B4F8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74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corregimos y lo que todavía no sabemos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85800" y="896112"/>
            <a:ext cx="1371600" cy="41148"/>
          </a:xfrm>
          <a:prstGeom prst="rect">
            <a:avLst/>
          </a:prstGeom>
          <a:solidFill>
            <a:srgbClr val="E07A16"/>
          </a:solidFill>
          <a:ln/>
        </p:spPr>
      </p:sp>
      <p:sp>
        <p:nvSpPr>
          <p:cNvPr id="5" name="Shape 3"/>
          <p:cNvSpPr/>
          <p:nvPr/>
        </p:nvSpPr>
        <p:spPr>
          <a:xfrm>
            <a:off x="2057400" y="914400"/>
            <a:ext cx="9418320" cy="13716"/>
          </a:xfrm>
          <a:prstGeom prst="rect">
            <a:avLst/>
          </a:prstGeom>
          <a:solidFill>
            <a:srgbClr val="D5D5D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2344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CORREGIDO DESDE LA SEMANA 7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1536192"/>
            <a:ext cx="4937760" cy="27432"/>
          </a:xfrm>
          <a:prstGeom prst="rect">
            <a:avLst/>
          </a:prstGeom>
          <a:solidFill>
            <a:srgbClr val="D5D5D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691640"/>
            <a:ext cx="49377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recuperación compara la misma ventana calendario.</a:t>
            </a:r>
            <a:endParaRPr lang="en-US" sz="125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ventanas del índice pico/valle ya no se solapan.</a:t>
            </a:r>
            <a:endParaRPr lang="en-US" sz="125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titular pasa de "372 de 414" a "80 % con umbral del 5 %, mediana −17 %".</a:t>
            </a:r>
            <a:endParaRPr lang="en-US" sz="125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Caídas anómalas detectadas en los datos: línea G jul–ago 2024, 21 St-Queensbridge sep 2023–mar 2024.</a:t>
            </a:r>
            <a:endParaRPr lang="en-US" sz="125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hallazgo escrito a mano resultó falso; ahora los genera el modelo.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6217920" y="12344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NO SABEMOS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1536192"/>
            <a:ext cx="5029200" cy="27432"/>
          </a:xfrm>
          <a:prstGeom prst="rect">
            <a:avLst/>
          </a:prstGeom>
          <a:solidFill>
            <a:srgbClr val="D5D5D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217920" y="1691640"/>
            <a:ext cx="50292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el Bronx. Los datos muestran el patrón; la hipótesis del teletrabajo se contrasta con el Census (share de trabajo desde casa por estación).</a:t>
            </a:r>
            <a:endParaRPr lang="en-US" sz="125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perfil de 168 h de 2024 es todavía el año completo; la recuperación ya no.</a:t>
            </a:r>
            <a:endParaRPr lang="en-US" sz="125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brush temporal solo cambia el tamaño de los puntos; con perfiles por mes reconstruirá la forma del día.</a:t>
            </a:r>
            <a:endParaRPr lang="en-US" sz="125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 entradas, no viajes. Los cambios de servicio no están controlados.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56692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está en PrototypeReport.md, sección 3. Y en el capítulo 7 de la propia aplicación.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1B4F8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74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qué queremos feedback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85800" y="896112"/>
            <a:ext cx="1371600" cy="41148"/>
          </a:xfrm>
          <a:prstGeom prst="rect">
            <a:avLst/>
          </a:prstGeom>
          <a:solidFill>
            <a:srgbClr val="E07A16"/>
          </a:solidFill>
          <a:ln/>
        </p:spPr>
      </p:sp>
      <p:sp>
        <p:nvSpPr>
          <p:cNvPr id="5" name="Shape 3"/>
          <p:cNvSpPr/>
          <p:nvPr/>
        </p:nvSpPr>
        <p:spPr>
          <a:xfrm>
            <a:off x="2057400" y="914400"/>
            <a:ext cx="9418320" cy="13716"/>
          </a:xfrm>
          <a:prstGeom prst="rect">
            <a:avLst/>
          </a:prstGeom>
          <a:solidFill>
            <a:srgbClr val="D5D5D5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1188720"/>
            <a:ext cx="1051560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05840" y="137160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128016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¿La tipología convence?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6035040" y="1307592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"Residencial / laboral" sale solo de a qué hora entra la gente. ¿Creíble, o promete más de lo que mide?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22960" y="1975104"/>
            <a:ext cx="10515600" cy="694944"/>
          </a:xfrm>
          <a:prstGeom prst="rect">
            <a:avLst/>
          </a:prstGeom>
          <a:solidFill>
            <a:srgbClr val="F7F9FB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05840" y="2157984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481328" y="2066544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¿El Bronx está bien contado o estamos forzando?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6035040" y="209397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Presentamos el teletrabajo como hipótesis. ¿Se percibe así? ¿Qué evidencia pedirían?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" y="2761488"/>
            <a:ext cx="1051560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05840" y="2944368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1481328" y="2852928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¿Narrativa + explorador es la estructura correcta?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6035040" y="288036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alternativa es un solo explorador con anotaciones. ¿La narrativa guía o estorba?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22960" y="3547872"/>
            <a:ext cx="10515600" cy="694944"/>
          </a:xfrm>
          <a:prstGeom prst="rect">
            <a:avLst/>
          </a:prstGeom>
          <a:solidFill>
            <a:srgbClr val="F7F9FB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05840" y="3730752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1481328" y="3639312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¿Los hallazgos negativos aportan o confunden?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6035040" y="366674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de siete dicen lo que los datos no sostienen.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22960" y="4334256"/>
            <a:ext cx="1051560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05840" y="4517136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1481328" y="4425696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¿La capa de confiabilidad se lee?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6035040" y="445312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estaciones con anillo punteado. ¿Aviso justo, o ruido? ¿Excluirlas por defecto?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22960" y="5120640"/>
            <a:ext cx="10515600" cy="694944"/>
          </a:xfrm>
          <a:prstGeom prst="rect">
            <a:avLst/>
          </a:prstGeom>
          <a:solidFill>
            <a:srgbClr val="F7F9FB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05840" y="530352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1481328" y="521208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le falta para un periodista o un investigador?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6035040" y="5239512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audiencia que declaramos. ¿Qué pregunta harían que no responde?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" y="5989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de la crítica: "Me gusta… / Ojalá… / ¿Y si…?"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2026-10-14T06:04:36Z</dcterms:created>
  <dcterms:modified xsi:type="dcterms:W3CDTF">2026-10-14T06:04:36Z</dcterms:modified>
</cp:coreProperties>
</file>